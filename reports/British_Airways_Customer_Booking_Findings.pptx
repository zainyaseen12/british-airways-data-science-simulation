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64592"/>
            <a:ext cx="8778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PREDICTING CUSTOMER BUYING BEHAVIOUR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"/>
            <a:ext cx="7772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DBE5EF"/>
                </a:solidFill>
                <a:latin typeface="Aptos"/>
              </a:rPr>
              <a:t>British Airways | Data Science Job Simulation | 50,000 booking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56032"/>
            <a:ext cx="1645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MODEL FINDINGS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005840"/>
            <a:ext cx="2331720" cy="841248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889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106424"/>
            <a:ext cx="2039112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B1F3A"/>
                </a:solidFill>
                <a:latin typeface="Aptos"/>
              </a:rPr>
              <a:t>50,000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53896"/>
            <a:ext cx="2039112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E2A38"/>
                </a:solidFill>
                <a:latin typeface="Aptos"/>
              </a:rPr>
              <a:t>records analysed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645920"/>
            <a:ext cx="203911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97A"/>
                </a:solidFill>
                <a:latin typeface="Aptos"/>
              </a:rPr>
              <a:t>0 missing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005840"/>
            <a:ext cx="2331720" cy="841248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889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1106424"/>
            <a:ext cx="2039112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C8102E"/>
                </a:solidFill>
                <a:latin typeface="Aptos"/>
              </a:rPr>
              <a:t>14.96%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1453896"/>
            <a:ext cx="2039112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E2A38"/>
                </a:solidFill>
                <a:latin typeface="Aptos"/>
              </a:rPr>
              <a:t>completed bookings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1645920"/>
            <a:ext cx="203911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97A"/>
                </a:solidFill>
                <a:latin typeface="Aptos"/>
              </a:rPr>
              <a:t>Target class =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58384" y="1005840"/>
            <a:ext cx="2331720" cy="841248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889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4688" y="1106424"/>
            <a:ext cx="2039112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B1F3A"/>
                </a:solidFill>
                <a:latin typeface="Aptos"/>
              </a:rPr>
              <a:t>0.776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1453896"/>
            <a:ext cx="2039112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E2A38"/>
                </a:solidFill>
                <a:latin typeface="Aptos"/>
              </a:rPr>
              <a:t>5-fold CV ROC-AUC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1645920"/>
            <a:ext cx="203911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97A"/>
                </a:solidFill>
                <a:latin typeface="Aptos"/>
              </a:rPr>
              <a:t>± 0.004 across folds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1005840"/>
            <a:ext cx="2331720" cy="841248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889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4" y="1106424"/>
            <a:ext cx="2039112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B1F3A"/>
                </a:solidFill>
                <a:latin typeface="Aptos"/>
              </a:rPr>
              <a:t>0.359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4424" y="1453896"/>
            <a:ext cx="2039112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E2A38"/>
                </a:solidFill>
                <a:latin typeface="Aptos"/>
              </a:rPr>
              <a:t>5-fold CV average 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4424" y="1645920"/>
            <a:ext cx="203911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97A"/>
                </a:solidFill>
                <a:latin typeface="Aptos"/>
              </a:rPr>
              <a:t>± 0.006 across folds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066543"/>
            <a:ext cx="55961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1F3A"/>
                </a:solidFill>
                <a:latin typeface="Aptos"/>
              </a:rPr>
              <a:t>WHAT MOST HELPS PREDICT A BOOKING?</a:t>
            </a:r>
          </a:p>
        </p:txBody>
      </p:sp>
      <p:pic>
        <p:nvPicPr>
          <p:cNvPr id="24" name="Picture 23" descr="booking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77440"/>
            <a:ext cx="5623560" cy="3163824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245352" y="2267712"/>
            <a:ext cx="5468112" cy="3502152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889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2496312"/>
            <a:ext cx="4937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1F3A"/>
                </a:solidFill>
                <a:latin typeface="Aptos"/>
              </a:rPr>
              <a:t>HOLDOUT TEST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2852928"/>
            <a:ext cx="2240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B697A"/>
                </a:solidFill>
                <a:latin typeface="Aptos"/>
              </a:rPr>
              <a:t>RECALL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3026664"/>
            <a:ext cx="2240280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C8102E"/>
                </a:solidFill>
                <a:latin typeface="Aptos"/>
              </a:rPr>
              <a:t>75.9%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3364992"/>
            <a:ext cx="221284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70" b="0">
                <a:solidFill>
                  <a:srgbClr val="1E2A38"/>
                </a:solidFill>
                <a:latin typeface="Aptos"/>
              </a:rPr>
              <a:t>Captured most completed bookings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408" y="2852928"/>
            <a:ext cx="2240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B697A"/>
                </a:solidFill>
                <a:latin typeface="Aptos"/>
              </a:rPr>
              <a:t>PRECISION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9408" y="3026664"/>
            <a:ext cx="2240280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1F3A"/>
                </a:solidFill>
                <a:latin typeface="Aptos"/>
              </a:rPr>
              <a:t>29.6%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9408" y="3364992"/>
            <a:ext cx="221284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70" b="0">
                <a:solidFill>
                  <a:srgbClr val="1E2A38"/>
                </a:solidFill>
                <a:latin typeface="Aptos"/>
              </a:rPr>
              <a:t>Many flagged customers do not 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3675887"/>
            <a:ext cx="2240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B697A"/>
                </a:solidFill>
                <a:latin typeface="Aptos"/>
              </a:rPr>
              <a:t>F1-SCORE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3849624"/>
            <a:ext cx="2240280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1F3A"/>
                </a:solidFill>
                <a:latin typeface="Aptos"/>
              </a:rPr>
              <a:t>42.6%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187952"/>
            <a:ext cx="221284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70" b="0">
                <a:solidFill>
                  <a:srgbClr val="1E2A38"/>
                </a:solidFill>
                <a:latin typeface="Aptos"/>
              </a:rPr>
              <a:t>Precision/recall balance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9408" y="3675887"/>
            <a:ext cx="2240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B697A"/>
                </a:solidFill>
                <a:latin typeface="Aptos"/>
              </a:rPr>
              <a:t>ROC-AUC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9408" y="3849624"/>
            <a:ext cx="2240280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1F3A"/>
                </a:solidFill>
                <a:latin typeface="Aptos"/>
              </a:rPr>
              <a:t>0.784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9408" y="4187952"/>
            <a:ext cx="221284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70" b="0">
                <a:solidFill>
                  <a:srgbClr val="1E2A38"/>
                </a:solidFill>
                <a:latin typeface="Aptos"/>
              </a:rPr>
              <a:t>Ranking performance on held-out data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10528" y="4544568"/>
            <a:ext cx="4901184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0528" y="4663440"/>
            <a:ext cx="4892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B1F3A"/>
                </a:solidFill>
                <a:latin typeface="Aptos"/>
              </a:rPr>
              <a:t>RECOMMENDED NEXT STEP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8" y="4910328"/>
            <a:ext cx="48920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E2A38"/>
                </a:solidFill>
                <a:latin typeface="Aptos"/>
              </a:rPr>
              <a:t>Use scores to prioritise campaign audiences, then tune the decision threshold to campaign capacity and false-positive cost. Validate on newer booking cohorts before operational use.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8912" y="5870448"/>
            <a:ext cx="11274552" cy="521207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8890">
            <a:solidFill>
              <a:srgbClr val="F0D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5971032"/>
            <a:ext cx="14447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8E5400"/>
                </a:solidFill>
                <a:latin typeface="Aptos"/>
              </a:rPr>
              <a:t>INTERPRETATION NOTE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29968" y="5943600"/>
            <a:ext cx="9418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1E2A38"/>
                </a:solidFill>
                <a:latin typeface="Aptos"/>
              </a:rPr>
              <a:t>Booking rate is imbalanced (15% positive). Class-weighted Random Forest prioritises recall; accuracy at the selected 0.50 threshold is 69.4%. Feature importance reflects predictive association, not causation; booking_origin and route dominate.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528816"/>
            <a:ext cx="11201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B697A"/>
                </a:solidFill>
                <a:latin typeface="Aptos"/>
              </a:rPr>
              <a:t>Method: stratified 80/20 train–test split; 5-fold stratified CV on training set; one-hot encoding; 180-tree class-weighted Random Forest; test-sample permutation importance (n=3,000).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